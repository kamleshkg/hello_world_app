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6C3FC5">
              <a:alpha val="25000"/>
            </a:srgbClr>
          </a:solidFill>
          <a:ln w="12700">
            <a:solidFill>
              <a:srgbClr val="6C3FC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027A6C">
              <a:alpha val="30000"/>
            </a:srgbClr>
          </a:solidFill>
          <a:ln w="12700">
            <a:solidFill>
              <a:srgbClr val="027A6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PR Review Plugin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&amp; KPI Framework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7280" cy="4572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narrative for every layer of the organisation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6C3FC5">
              <a:alpha val="80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Mgmt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Mgmt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95344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27A6C">
              <a:alpha val="80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22976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B83232">
              <a:alpha val="80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2976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50608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B05E00">
              <a:alpha val="80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| Enterprise DevOps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Plugin?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VSCode extension that brings AI-assisted PR review directly into the developer's IDE — and silently generates the organisation's Copilot ROI evidence as a side effect.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51760" cy="1737360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reviews their active file in IDE before raising a PR. Catches own issues — no context switch.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5176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50876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the full diff between source and destination branches. Comments posted directly to Bitbucket PR.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51760" cy="1737360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508760"/>
            <a:ext cx="2651760" cy="347472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from Jira combined with PR diff — AI validates code against the story definition.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841248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Parameters stored in 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DC URL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URL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42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4439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branch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branch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4242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(user/pwd)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461772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E6B0A"/>
          </a:solidFill>
          <a:ln w="12700">
            <a:solidFill>
              <a:srgbClr val="2E6B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Review comments posted to Bitbucket PR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6C3FC5">
              <a:alpha val="20000"/>
            </a:srgbClr>
          </a:solidFill>
          <a:ln w="12700">
            <a:solidFill>
              <a:srgbClr val="6C3FC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7A6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Insight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plugin doesn't have 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story.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</a:t>
            </a:r>
            <a:pPr indent="0" marL="0">
              <a:buNone/>
            </a:pPr>
            <a:r>
              <a:rPr lang="en-US" sz="2200" b="1" i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for each layer of the organisation.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layer's value </a:t>
            </a:r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layer above it.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863840" cy="1371600"/>
          </a:xfrm>
          <a:prstGeom prst="rect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24912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generated silently — as a side effect of developers doing their normal work.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process. No overhead. No surveys. Just evidence.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 months ago, leadership asked teams to pilot Copilot.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plugin is the only thing in the org that can tell you whether that pilot worked."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Chains — One Connected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gets a different value. Each layer's actions create evidence for the layer above.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1371600" cy="56692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070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Mgmt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490472"/>
            <a:ext cx="274320" cy="0"/>
          </a:xfrm>
          <a:prstGeom prst="line">
            <a:avLst/>
          </a:prstGeom>
          <a:noFill/>
          <a:ln w="12700">
            <a:solidFill>
              <a:srgbClr val="6C3F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20700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2527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licence spend justified with live adoption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490472"/>
            <a:ext cx="274320" cy="0"/>
          </a:xfrm>
          <a:prstGeom prst="line">
            <a:avLst/>
          </a:prstGeom>
          <a:noFill/>
          <a:ln w="12700">
            <a:solidFill>
              <a:srgbClr val="6C3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207008"/>
            <a:ext cx="2834640" cy="566928"/>
          </a:xfrm>
          <a:prstGeom prst="rect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527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dashboard — not a survey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13716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568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Mgmt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2240280"/>
            <a:ext cx="27432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95681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20025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checklist + pattern data shows recurring issues per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2240280"/>
            <a:ext cx="27432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956816"/>
            <a:ext cx="2834640" cy="56692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00253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coaching, fewer defects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1371600" cy="566928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066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2990088"/>
            <a:ext cx="274320" cy="0"/>
          </a:xfrm>
          <a:prstGeom prst="line">
            <a:avLst/>
          </a:prstGeom>
          <a:noFill/>
          <a:ln w="12700">
            <a:solidFill>
              <a:srgbClr val="027A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2706624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03120" y="275234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in IDE before raising PR — fewer review bounces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990088"/>
            <a:ext cx="274320" cy="0"/>
          </a:xfrm>
          <a:prstGeom prst="line">
            <a:avLst/>
          </a:prstGeom>
          <a:noFill/>
          <a:ln w="12700">
            <a:solidFill>
              <a:srgbClr val="027A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706624"/>
            <a:ext cx="2834640" cy="566928"/>
          </a:xfrm>
          <a:prstGeom prst="rect">
            <a:avLst/>
          </a:prstGeom>
          <a:solidFill>
            <a:srgbClr val="027A6C">
              <a:alpha val="15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75234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merge, less rework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1371600" cy="56692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564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3739896"/>
            <a:ext cx="274320" cy="0"/>
          </a:xfrm>
          <a:prstGeom prst="line">
            <a:avLst/>
          </a:prstGeom>
          <a:noFill/>
          <a:ln w="12700">
            <a:solidFill>
              <a:srgbClr val="B832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3456432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03120" y="35021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pre-screens diff — human focuses on logic not style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3739896"/>
            <a:ext cx="274320" cy="0"/>
          </a:xfrm>
          <a:prstGeom prst="line">
            <a:avLst/>
          </a:prstGeom>
          <a:noFill/>
          <a:ln w="12700">
            <a:solidFill>
              <a:srgbClr val="B832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456432"/>
            <a:ext cx="2834640" cy="566928"/>
          </a:xfrm>
          <a:prstGeom prst="rect">
            <a:avLst/>
          </a:prstGeom>
          <a:solidFill>
            <a:srgbClr val="B83232">
              <a:alpha val="15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5021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fatigue drops, senior time freed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1371600" cy="566928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06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4489704"/>
            <a:ext cx="274320" cy="0"/>
          </a:xfrm>
          <a:prstGeom prst="line">
            <a:avLst/>
          </a:prstGeom>
          <a:noFill/>
          <a:ln w="12700">
            <a:solidFill>
              <a:srgbClr val="B05E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42062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103120" y="42519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real code teaches org standards without hand-holding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0" y="4489704"/>
            <a:ext cx="274320" cy="0"/>
          </a:xfrm>
          <a:prstGeom prst="line">
            <a:avLst/>
          </a:prstGeom>
          <a:noFill/>
          <a:ln w="12700">
            <a:solidFill>
              <a:srgbClr val="B05E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4206240"/>
            <a:ext cx="2834640" cy="566928"/>
          </a:xfrm>
          <a:prstGeom prst="rect">
            <a:avLst/>
          </a:prstGeom>
          <a:solidFill>
            <a:srgbClr val="B05E00">
              <a:alpha val="15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2519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ramp, senior time saved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937760"/>
            <a:ext cx="8412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37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chains converge → Mean time to merge ↓  |  Defect rate ↓  |  Copilot adoption %  |  Onboarding ramp time ↓  |  Licence ROI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Higher Management (CTO / VP Engineering)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"We paid for Copilot. Is anyone actually using it? Did it help?"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Copilot Plugin Adoption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telemetry — unique active users per week ÷ total licensed seats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of licensed devs active within 30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Reviews Triggered per Project / Repo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REST API — count of plugin-labelled PR comments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Week-on-week upward trend across teams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Review Type Distribution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self / PR / Jira+PR split per user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Jira+PR usage grows as team maturity increases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Copilot ROI Index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Composite: adoption rate × quality delta × time-to-merge saved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 by month 3 — CTO-visible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Mid Management (Delivery Leads / Engineering Managers)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"Which teams have review gaps? Where do defects repeatedly come from?"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PR Checklist (TASK) Completion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TASK API — checked vs unchecked before merge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tasks completed before merge (merge gate enforces this)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Recurring Issue Category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PR comments tagged by plugin label — category mining over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issue types per team identified by month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MRA (Mandatory Review Action) Resolution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TASK completion correlated with merge event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merge gate enforces; non-negotiable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Review Cycle Count per PR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PR activity — comment rounds before approval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1+ review cycle vs pre-plugin baseline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Developers (Code Authors)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"Is this actually saving me time or just adding steps?"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Self-Review Usage Before PR Raise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self-review session followed by PR created within 2 hrs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of PRs preceded by self-review within 8 weeks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PR Rework Commits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commits pushed after PR raised (rework signal)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vs pre-plugin baseline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Time PR Raise → First Approval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created_at vs approved_at across plugin-touched PRs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faster time-to-approval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In-Plugin Satisfaction 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Thumbs up/down after each review session (lightweight, in-IDE)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 positive signal by month 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PR Reviewers (Senior Developers)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"Am I spending less time on obvious issues? Are incoming PRs actually cleaner?"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Human Reviewer Comment Volume per PR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human vs AI plugin-label comment split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comment count falls as AI pre-screens more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Time Reviewer Spends per PR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activity — first view timestamp to approval timestamp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in time-to-approve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Trivial / Style Issues by Human Reviewers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comment categorisation — style/lint comments by author 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trivial comments from human reviewers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Checklist Task Dispute 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task reopen events — reviewer unchecks a completed task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 dispute rate — confirms checklist is well-calibrated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New Joinees (Onboarding Developers)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"Am I raising better PRs than week 1? Am I learning without blocking seniors?"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First PR Approval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new joinee's first PR created_at vs approved_at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faster than pre-plugin new joinee cohort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New Joinee PR Rejection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PRs needing &gt;2 review cycles in first 60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lower than historical pre-plugin baseline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Senior Dev Time on New Joinee PRs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reviewer activity — senior comment count on NJ PRs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trend from week 4 onward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Jira AC Review Mode Adoption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Jira+PR usage frequency by new joinee accounts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of new joinee PRs use Jira+PR mode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Business-Level KPIs — What All Chains Roll Up 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with Bitbucket API data + plugin event log alone. No new tooling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" cy="59436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88720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Merge (MTTM)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4996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BB: created_at → merged_at across all plugin-touched PRs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2801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27A6C">
              <a:alpha val="15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20–30% reduction in 90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164592" cy="59436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93852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2494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issues raised post-merge vs pre-plugin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02996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B83232">
              <a:alpha val="15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029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Measurable reduction by quarter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164592" cy="5943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688336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Active Usage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999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telemetry: unique users / week ÷ total licensed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779776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79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&gt;70% of licensed seats active monthly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16459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438144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Review Cycle Saved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3749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(Avg senior dev hourly cost) × (review cycles reduced)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3529584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5295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Plugin pays for itself in &lt;6 months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87952"/>
            <a:ext cx="164592" cy="59436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87952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Ramp Time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BB: new joinee first PR approval delta vs pre-plugin cohort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427939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B05E00">
              <a:alpha val="15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279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Quantified reduction — HR-reportable metric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 Come From?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across all five value chains is derivable from two sources already available in the organisation.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REST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created_at, approved_at, merged_at timestamps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 count (human vs plugin label split)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31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API — checklist completion before merge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780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count after PR raise (rework signal)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activity — first view to approval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labels — identify plugin-touched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Postman-provable: full review chain per PR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3200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Telemetry Event 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+ session timestamp per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98424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type used (self / PR / Jira+PR)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31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repo per 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780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→ PR raise correlation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249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 vs veteran dev segmentation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signal (thumbs up/down)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186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rate: active users ÷ licensed seats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tooling or process required — data is generated silently as developers work normally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6C3FC5">
              <a:alpha val="20000"/>
            </a:srgbClr>
          </a:solidFill>
          <a:ln w="12700">
            <a:solidFill>
              <a:srgbClr val="6C3FC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7A6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02920" cy="5486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005840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51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chains — one for every layer of the org, from CTO to new joinee.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502920" cy="54864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55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1755648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80136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chain has measurable KPIs — sourced from Bitbucket API and plugin telemetry.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50292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054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2505456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55117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TASK checklist = hard evidence, not surveys. Merge gate enforces review quality.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502920" cy="54864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552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3255264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30098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is the org's Copilot ROI engine — the only tool that proves whether the 6-month pilot worked.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05072"/>
            <a:ext cx="5029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050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43000" y="4005072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0507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overhead. Data generated silently as developers do normal work.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| Enterprise DevOps | AI-Assisted Development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VSCode PR Review Plugin – Value Chain &amp; KPIs</dc:title>
  <dc:subject>PptxGenJS Presentation</dc:subject>
  <dc:creator>PptxGenJS</dc:creator>
  <cp:lastModifiedBy>PptxGenJS</cp:lastModifiedBy>
  <cp:revision>1</cp:revision>
  <dcterms:created xsi:type="dcterms:W3CDTF">2026-04-26T03:11:02Z</dcterms:created>
  <dcterms:modified xsi:type="dcterms:W3CDTF">2026-04-26T03:11:02Z</dcterms:modified>
</cp:coreProperties>
</file>